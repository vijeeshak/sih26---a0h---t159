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png1" ContentType="image/png"/>
  <Override PartName="/ppt/media/image-1-2.png1" ContentType="image/pn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71" r:id="rId8"/>
    <p:sldMasterId id="2147483673" r:id="rId6"/>
    <p:sldMasterId id="2147483685" r:id="rId4"/>
    <p:sldMasterId id="2147483697" r:id="rId14"/>
  </p:sldMasterIdLst>
  <p:notesMasterIdLst>
    <p:notesMasterId r:id="rId9"/>
  </p:notesMasterIdLst>
  <p:sldIdLst>
    <p:sldId id="291" r:id="rId2"/>
    <p:sldId id="292" r:id="rId7"/>
    <p:sldId id="295" r:id="rId15"/>
    <p:sldId id="293" r:id="rId5"/>
    <p:sldId id="294" r:id="rId3"/>
    <p:sldId id="296" r:id="rId16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4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8" Type="http://schemas.openxmlformats.org/officeDocument/2006/relationships/slideMaster" Target="slideMasters/slideMaster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16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729D-C295-1194-E3AE-5981E8266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0CB3B-E677-4173-28F5-7C3CF1B6A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451CF-6771-6FBB-C12E-F5C8414E6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1CC4D-1F1F-9883-5E33-DDF12D8F2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33B7F-70E9-E88C-B935-47C920BE1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7D948-7CB0-E2EF-ADDA-0D4AC6387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7228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8785-E97A-E434-EADD-A111B6557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6A555-0AEB-5228-4E8A-C975BAF58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FC7D7-F0E3-F138-4C9D-23E31339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3C56D-EE53-373B-A59A-72E7A8492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5B1C1-FFE1-F8EE-B153-45878FEF5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0986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72C325-1ED9-6971-8D99-B0953500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645B1A-F272-9054-8941-C15790BE9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5F003-0795-8147-F34E-AD70595DC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6937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BABF-BB6B-843E-1846-FDAAE29D8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B15FB-3C01-9560-26B0-F87F68E81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33429-F1CE-0D23-2249-4537127DC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E63E5-F328-542D-C066-CA55AD73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F55A4-E393-9F5A-C125-17E7818AD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7308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CDE3D-304F-0D62-5312-8F4B2F2DF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3B6F51-9CDD-B444-F7CB-06448BA18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DE936-4B72-C589-5E98-52770109F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BB8E2-BE48-72E5-7A90-BE6BA0CD5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D98B4-65D9-BB5C-941F-8A7D518A0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1138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03C5F-7424-F658-099A-298D6CAF9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E950D6-85EC-CAC8-4B37-4DFE95991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29C2A9-5343-60C8-9766-3D4E24EE3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A30B2F-4A68-C8B4-0B47-8C1AD56B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3582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208AEA-1B71-2839-7407-6A3F41103A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15EFC7-9509-711C-07CE-F5D512886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2ABFC-C110-10F6-4D75-FC935CD1D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54761-978A-6879-28CF-0B035265A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5FF78-AA3E-1725-211A-0F0776745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4153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8FA88-615B-A3A7-6745-87442EC1C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3676C-764B-9239-E3BD-A59B2841A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D8A9D-01C7-E15C-C40C-48636C8BE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D17BA8-163A-F036-7078-63A3814C72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6C0616-D8B8-57CC-A319-029E98FD4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5B3F96-B7A6-CBB5-E251-14276830E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852870-C455-6B37-02B4-88E82678E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5F211D-B6F4-83F7-DA4D-E50F1782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6375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CBB39-FA3D-E669-0E63-B5DDBB8F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8F3E38-CD1C-21CE-6768-C502BCC69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C83A2-6A6A-3D3E-5385-4E8813A13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FF0D0-51AF-052B-800B-35305A446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1794E-56E4-2E23-62B2-F4B329B6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28381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1D84C-C7AD-040E-A7C5-E281D187D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867CD-8BA7-D2A6-011D-D05E57FE30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B1275-6BA3-998E-9C59-80745573B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67CE2-AB62-8650-562A-B42DC103F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D07CB-A8A7-F1DC-67A2-BD0BEEED5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E05AF-D279-28F0-C920-2C6C466F3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3760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54E2F-DB34-16F5-1B6C-1883DE7BB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46D4B7-B9D7-9CD3-7E20-01A35E7198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9292F-E19D-9124-85A7-8159D0884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04DEC-200B-8369-0A79-B19A5296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46DE6-6C8F-22A7-8DEE-FEEBB630A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EB7ECD-B514-0B41-27FA-25782B8C2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124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theme" Target="../theme/theme4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theme" Target="../theme/theme5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theme" Target="../theme/theme6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6"/>
    <p:sldLayoutId id="2147483675" r:id="rId5"/>
    <p:sldLayoutId id="2147483676" r:id="rId2"/>
    <p:sldLayoutId id="2147483677" r:id="rId11"/>
    <p:sldLayoutId id="2147483678" r:id="rId9"/>
    <p:sldLayoutId id="2147483679" r:id="rId7"/>
    <p:sldLayoutId id="2147483680" r:id="rId3"/>
    <p:sldLayoutId id="2147483681" r:id="rId1"/>
    <p:sldLayoutId id="2147483682" r:id="rId12"/>
    <p:sldLayoutId id="2147483683" r:id="rId10"/>
    <p:sldLayoutId id="2147483684" r:id="rId8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926304-6386-613D-B473-E4EEEF1B1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8192A-FC4B-4090-C952-4122A1F72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FA8F5-3770-176C-B3D1-887213BF9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FF0F8A-8694-4362-8768-91A4472C4BE2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8C5A4-6097-E43D-CB3B-4B6851C57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270CA-1AF9-8603-4E63-C84FC6BAE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4E5367-3D3A-4B2E-9F1C-014586188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20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6"/>
    <p:sldLayoutId id="2147483687" r:id="rId5"/>
    <p:sldLayoutId id="2147483688" r:id="rId2"/>
    <p:sldLayoutId id="2147483689" r:id="rId11"/>
    <p:sldLayoutId id="2147483690" r:id="rId9"/>
    <p:sldLayoutId id="2147483691" r:id="rId7"/>
    <p:sldLayoutId id="2147483692" r:id="rId3"/>
    <p:sldLayoutId id="2147483693" r:id="rId1"/>
    <p:sldLayoutId id="2147483694" r:id="rId12"/>
    <p:sldLayoutId id="2147483695" r:id="rId10"/>
    <p:sldLayoutId id="214748369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-1-1.png1"/><Relationship Id="rId3" Type="http://schemas.openxmlformats.org/officeDocument/2006/relationships/image" Target="../media/image-1-2.png1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28800"/>
            <a:ext cx="5924550" cy="497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SIH26190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Secure Digital Document Management System for Legal and Investigation Documents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Miscellaneous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SIH26-A0H-T159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Tech Knights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PROPOSED SOLUTION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301" name="Box 301"/>
          <p:cNvSpPr/>
          <p:nvPr/>
        </p:nvSpPr>
        <p:spPr>
          <a:xfrm>
            <a:off x="380000" y="1900000"/>
            <a:ext cx="4573000" cy="4300000"/>
          </a:xfrm>
          <a:prstGeom prst="rect">
            <a:avLst/>
          </a:prstGeom>
          <a:noFill/>
          <a:ln w="19050">
            <a:solidFill>
              <a:srgbClr val="1F4E79"/>
            </a:solidFill>
          </a:ln>
        </p:spPr>
        <p:txBody>
          <a:bodyPr wrap="square" lIns="137160" tIns="100000" rIns="137160" bIns="100000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cs typeface="Calibri" pitchFamily="34" charset="0"/>
              </a:rPr>
              <a:t>SOLUTION :</a:t>
            </a:r>
          </a:p>
          <a:p>
            <a:pPr algn="l"/>
            <a:endParaRPr lang="en-US" sz="800" dirty="0"/>
          </a:p>
          <a:p>
            <a:pPr algn="l">
              <a:spcAft>
                <a:spcPts val="400"/>
              </a:spcAft>
            </a:pPr>
            <a:r>
              <a:rPr lang="en-US" sz="1250" dirty="0">
                <a:latin typeface="Calibri" pitchFamily="34" charset="0"/>
                <a:cs typeface="Calibri" pitchFamily="34" charset="0"/>
              </a:rPr>
              <a:t>An encrypted, AI-secured digital document management platform built for legal and investigation records – with tamper-proof verification at its core.</a:t>
            </a:r>
          </a:p>
          <a:p>
            <a:pPr algn="l"/>
            <a:endParaRPr lang="en-US" sz="800" dirty="0"/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150" b="1" dirty="0">
                <a:latin typeface="Calibri" pitchFamily="34" charset="0"/>
                <a:cs typeface="Calibri" pitchFamily="34" charset="0"/>
              </a:rPr>
              <a:t>Encrypted document vault</a:t>
            </a:r>
            <a:r>
              <a:rPr lang="en-US" sz="1150" dirty="0">
                <a:latin typeface="Calibri" pitchFamily="34" charset="0"/>
                <a:cs typeface="Calibri" pitchFamily="34" charset="0"/>
              </a:rPr>
              <a:t> with role-, location- &amp; time-bound access</a:t>
            </a: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150" b="1" dirty="0">
                <a:latin typeface="Calibri" pitchFamily="34" charset="0"/>
                <a:cs typeface="Calibri" pitchFamily="34" charset="0"/>
              </a:rPr>
              <a:t>Digital fingerprint</a:t>
            </a:r>
            <a:r>
              <a:rPr lang="en-US" sz="1150" dirty="0">
                <a:latin typeface="Calibri" pitchFamily="34" charset="0"/>
                <a:cs typeface="Calibri" pitchFamily="34" charset="0"/>
              </a:rPr>
              <a:t> auto-verifies every document, flags tampering instantly</a:t>
            </a: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150" b="1" dirty="0">
                <a:latin typeface="Calibri" pitchFamily="34" charset="0"/>
                <a:cs typeface="Calibri" pitchFamily="34" charset="0"/>
              </a:rPr>
              <a:t>AI deepfake &amp; tamper detection</a:t>
            </a:r>
            <a:r>
              <a:rPr lang="en-US" sz="1150" dirty="0">
                <a:latin typeface="Calibri" pitchFamily="34" charset="0"/>
                <a:cs typeface="Calibri" pitchFamily="34" charset="0"/>
              </a:rPr>
              <a:t> for documents, audio and video</a:t>
            </a: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150" b="1" dirty="0">
                <a:latin typeface="Calibri" pitchFamily="34" charset="0"/>
                <a:cs typeface="Calibri" pitchFamily="34" charset="0"/>
              </a:rPr>
              <a:t>Immutable, chain-linked logbook</a:t>
            </a:r>
            <a:r>
              <a:rPr lang="en-US" sz="1150" dirty="0">
                <a:latin typeface="Calibri" pitchFamily="34" charset="0"/>
                <a:cs typeface="Calibri" pitchFamily="34" charset="0"/>
              </a:rPr>
              <a:t> records every view, </a:t>
            </a:r>
            <a:r>
              <a:rPr lang="en-US" sz="1150" dirty="0" smtClean="0">
                <a:latin typeface="Calibri" pitchFamily="34" charset="0"/>
                <a:cs typeface="Calibri" pitchFamily="34" charset="0"/>
              </a:rPr>
              <a:t>download, edit </a:t>
            </a:r>
            <a:r>
              <a:rPr lang="en-US" sz="1150" dirty="0">
                <a:latin typeface="Calibri" pitchFamily="34" charset="0"/>
                <a:cs typeface="Calibri" pitchFamily="34" charset="0"/>
              </a:rPr>
              <a:t>and share</a:t>
            </a: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150" b="1" dirty="0">
                <a:latin typeface="Calibri" pitchFamily="34" charset="0"/>
                <a:cs typeface="Calibri" pitchFamily="34" charset="0"/>
              </a:rPr>
              <a:t>Hierarchical access</a:t>
            </a:r>
            <a:r>
              <a:rPr lang="en-US" sz="1150" dirty="0">
                <a:latin typeface="Calibri" pitchFamily="34" charset="0"/>
                <a:cs typeface="Calibri" pitchFamily="34" charset="0"/>
              </a:rPr>
              <a:t> – Officer → MFA → Dept → Role → Clearance → Case</a:t>
            </a: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150" b="1" dirty="0">
                <a:latin typeface="Calibri" pitchFamily="34" charset="0"/>
                <a:cs typeface="Calibri" pitchFamily="34" charset="0"/>
              </a:rPr>
              <a:t>One-click “proof pack”</a:t>
            </a:r>
            <a:r>
              <a:rPr lang="en-US" sz="1150" dirty="0">
                <a:latin typeface="Calibri" pitchFamily="34" charset="0"/>
                <a:cs typeface="Calibri" pitchFamily="34" charset="0"/>
              </a:rPr>
              <a:t> generation, ready for court submission</a:t>
            </a:r>
          </a:p>
        </p:txBody>
      </p:sp>
      <p:sp>
        <p:nvSpPr>
          <p:cNvPr id="302" name="Box 302"/>
          <p:cNvSpPr/>
          <p:nvPr/>
        </p:nvSpPr>
        <p:spPr>
          <a:xfrm>
            <a:off x="5153000" y="1900000"/>
            <a:ext cx="6659000" cy="1650000"/>
          </a:xfrm>
          <a:prstGeom prst="rect">
            <a:avLst/>
          </a:prstGeom>
          <a:noFill/>
          <a:ln w="19050">
            <a:solidFill>
              <a:srgbClr val="1F4E79"/>
            </a:solidFill>
          </a:ln>
        </p:spPr>
        <p:txBody>
          <a:bodyPr wrap="square" lIns="137160" tIns="100000" rIns="137160" bIns="100000" anchor="t">
            <a:normAutofit fontScale="92500" lnSpcReduction="20000"/>
          </a:bodyPr>
          <a:lstStyle/>
          <a:p>
            <a:pPr algn="l">
              <a:spcAft>
                <a:spcPts val="600"/>
              </a:spcAft>
            </a:pPr>
            <a:r>
              <a:rPr lang="en-US" sz="1700" b="1" dirty="0">
                <a:solidFill>
                  <a:srgbClr val="2E75B6"/>
                </a:solidFill>
                <a:latin typeface="Calibri" pitchFamily="34" charset="0"/>
                <a:cs typeface="Calibri" pitchFamily="34" charset="0"/>
              </a:rPr>
              <a:t>Problem Resolution :</a:t>
            </a:r>
          </a:p>
          <a:p>
            <a:pPr algn="l"/>
            <a:endParaRPr lang="en-US" sz="800" dirty="0"/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2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200" b="1" dirty="0">
                <a:latin typeface="Calibri" pitchFamily="34" charset="0"/>
                <a:cs typeface="Calibri" pitchFamily="34" charset="0"/>
              </a:rPr>
              <a:t>MFA-based access control</a:t>
            </a:r>
            <a:r>
              <a:rPr lang="en-US" sz="1200" dirty="0">
                <a:latin typeface="Calibri" pitchFamily="34" charset="0"/>
                <a:cs typeface="Calibri" pitchFamily="34" charset="0"/>
              </a:rPr>
              <a:t> eliminates unauthorized viewing across departments and </a:t>
            </a:r>
            <a:r>
              <a:rPr lang="en-US" sz="1200" dirty="0" smtClean="0">
                <a:latin typeface="Calibri" pitchFamily="34" charset="0"/>
                <a:cs typeface="Calibri" pitchFamily="34" charset="0"/>
              </a:rPr>
              <a:t>cases. Also access is granted on a limited basis, subject to individual justification.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200" b="1" dirty="0">
                <a:latin typeface="Calibri" pitchFamily="34" charset="0"/>
                <a:cs typeface="Calibri" pitchFamily="34" charset="0"/>
              </a:rPr>
              <a:t>Continuous </a:t>
            </a:r>
            <a:r>
              <a:rPr lang="en-US" sz="1200" b="1" dirty="0" smtClean="0">
                <a:latin typeface="Calibri" pitchFamily="34" charset="0"/>
                <a:cs typeface="Calibri" pitchFamily="34" charset="0"/>
              </a:rPr>
              <a:t>verification</a:t>
            </a:r>
            <a:r>
              <a:rPr lang="en-US" sz="1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200" dirty="0">
                <a:latin typeface="Calibri" pitchFamily="34" charset="0"/>
                <a:cs typeface="Calibri" pitchFamily="34" charset="0"/>
              </a:rPr>
              <a:t>instantly flags tampering, replacing slow, error-prone manual </a:t>
            </a:r>
            <a:r>
              <a:rPr lang="en-US" sz="1200" dirty="0" smtClean="0">
                <a:latin typeface="Calibri" pitchFamily="34" charset="0"/>
                <a:cs typeface="Calibri" pitchFamily="34" charset="0"/>
              </a:rPr>
              <a:t>checks and automatically detects duplicate documents.</a:t>
            </a: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200" dirty="0" smtClean="0">
                <a:cs typeface="Calibri" pitchFamily="34" charset="0"/>
              </a:rPr>
              <a:t>Sensitive cases are automatically assigned </a:t>
            </a:r>
            <a:r>
              <a:rPr lang="en-US" sz="1200" dirty="0" err="1" smtClean="0">
                <a:cs typeface="Calibri" pitchFamily="34" charset="0"/>
              </a:rPr>
              <a:t>anonymized</a:t>
            </a:r>
            <a:r>
              <a:rPr lang="en-US" sz="1200" dirty="0" smtClean="0">
                <a:cs typeface="Calibri" pitchFamily="34" charset="0"/>
              </a:rPr>
              <a:t> codes to maintain confidentiality and certain users are granted temporary</a:t>
            </a:r>
            <a:r>
              <a:rPr lang="en-US" sz="1200" smtClean="0">
                <a:cs typeface="Calibri" pitchFamily="34" charset="0"/>
              </a:rPr>
              <a:t>, time-bound access.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200" b="1" dirty="0">
                <a:latin typeface="Calibri" pitchFamily="34" charset="0"/>
                <a:cs typeface="Calibri" pitchFamily="34" charset="0"/>
              </a:rPr>
              <a:t>Chain-linked, unerasable logs</a:t>
            </a:r>
            <a:r>
              <a:rPr lang="en-US" sz="1200" dirty="0">
                <a:latin typeface="Calibri" pitchFamily="34" charset="0"/>
                <a:cs typeface="Calibri" pitchFamily="34" charset="0"/>
              </a:rPr>
              <a:t> guarantee the unbroken chain of custody courts require</a:t>
            </a:r>
          </a:p>
        </p:txBody>
      </p:sp>
      <p:sp>
        <p:nvSpPr>
          <p:cNvPr id="303" name="Box 303"/>
          <p:cNvSpPr/>
          <p:nvPr/>
        </p:nvSpPr>
        <p:spPr>
          <a:xfrm>
            <a:off x="5153000" y="3750000"/>
            <a:ext cx="6659000" cy="2450000"/>
          </a:xfrm>
          <a:prstGeom prst="rect">
            <a:avLst/>
          </a:prstGeom>
          <a:noFill/>
          <a:ln w="19050">
            <a:solidFill>
              <a:srgbClr val="1F4E79"/>
            </a:solidFill>
          </a:ln>
        </p:spPr>
        <p:txBody>
          <a:bodyPr wrap="square" lIns="137160" tIns="100000" rIns="137160" bIns="100000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700" b="1" dirty="0">
                <a:solidFill>
                  <a:srgbClr val="2E75B6"/>
                </a:solidFill>
                <a:latin typeface="Calibri" pitchFamily="34" charset="0"/>
                <a:cs typeface="Calibri" pitchFamily="34" charset="0"/>
              </a:rPr>
              <a:t>Unique Value Propositions (UVP) :</a:t>
            </a:r>
          </a:p>
          <a:p>
            <a:pPr algn="l"/>
            <a:endParaRPr lang="en-US" sz="800" dirty="0"/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200" b="1" dirty="0">
                <a:latin typeface="Calibri" pitchFamily="34" charset="0"/>
                <a:cs typeface="Calibri" pitchFamily="34" charset="0"/>
              </a:rPr>
              <a:t>Panic/duress access mode</a:t>
            </a:r>
            <a:r>
              <a:rPr lang="en-US" sz="1200" dirty="0">
                <a:latin typeface="Calibri" pitchFamily="34" charset="0"/>
                <a:cs typeface="Calibri" pitchFamily="34" charset="0"/>
              </a:rPr>
              <a:t> – opens a decoy view and silently alerts authorities</a:t>
            </a: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200" b="1" dirty="0">
                <a:latin typeface="Calibri" pitchFamily="34" charset="0"/>
                <a:cs typeface="Calibri" pitchFamily="34" charset="0"/>
              </a:rPr>
              <a:t>True redaction</a:t>
            </a:r>
            <a:r>
              <a:rPr lang="en-US" sz="1200" dirty="0">
                <a:latin typeface="Calibri" pitchFamily="34" charset="0"/>
                <a:cs typeface="Calibri" pitchFamily="34" charset="0"/>
              </a:rPr>
              <a:t> permanently removes data, not just hides it</a:t>
            </a: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200" b="1" dirty="0">
                <a:latin typeface="Calibri" pitchFamily="34" charset="0"/>
                <a:cs typeface="Calibri" pitchFamily="34" charset="0"/>
              </a:rPr>
              <a:t>Background integrity checks</a:t>
            </a:r>
            <a:r>
              <a:rPr lang="en-US" sz="1200" dirty="0">
                <a:latin typeface="Calibri" pitchFamily="34" charset="0"/>
                <a:cs typeface="Calibri" pitchFamily="34" charset="0"/>
              </a:rPr>
              <a:t> catch tampering even if a file sits untouched for weeks</a:t>
            </a: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200" b="1" dirty="0">
                <a:latin typeface="Calibri" pitchFamily="34" charset="0"/>
                <a:cs typeface="Calibri" pitchFamily="34" charset="0"/>
              </a:rPr>
              <a:t>AI-generated case timeline</a:t>
            </a:r>
            <a:r>
              <a:rPr lang="en-US" sz="1200" dirty="0">
                <a:latin typeface="Calibri" pitchFamily="34" charset="0"/>
                <a:cs typeface="Calibri" pitchFamily="34" charset="0"/>
              </a:rPr>
              <a:t> auto-built from events across uploaded documents</a:t>
            </a:r>
          </a:p>
          <a:p>
            <a:pPr marL="228600" indent="-2286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US" sz="1200" b="1" dirty="0">
                <a:latin typeface="Calibri" pitchFamily="34" charset="0"/>
                <a:cs typeface="Calibri" pitchFamily="34" charset="0"/>
              </a:rPr>
              <a:t>Reputation-weighted access</a:t>
            </a:r>
            <a:r>
              <a:rPr lang="en-US" sz="1200" dirty="0">
                <a:latin typeface="Calibri" pitchFamily="34" charset="0"/>
                <a:cs typeface="Calibri" pitchFamily="34" charset="0"/>
              </a:rPr>
              <a:t> for smoother, safer multi-agency case sharing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1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Picture 15361" descr="Image 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6304"/>
            <a:ext cx="475488" cy="475488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713232" y="146304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2A4A"/>
                </a:solidFill>
                <a:latin typeface="Calibri"/>
              </a:defRPr>
            </a:pPr>
            <a:r>
              <a:t>TECH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713232" y="320040"/>
            <a:ext cx="868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1611A"/>
                </a:solidFill>
                <a:latin typeface="Calibri"/>
              </a:defRPr>
            </a:pPr>
            <a:r>
              <a:t>KNIGHTS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915357AA-8F29-7402-052F-E5CADC274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167"/>
            <a:ext cx="10515600" cy="1325563"/>
          </a:xfrm>
        </p:spPr>
        <p:txBody>
          <a:bodyPr/>
          <a:lstStyle/>
          <a:p>
            <a:r>
              <a:rPr lang="en-US" dirty="0"/>
              <a:t>              </a:t>
            </a:r>
            <a:r>
              <a:rPr lang="en-US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BD222-C458-BDFE-38D0-3FD7499AF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25475" y="1334681"/>
            <a:ext cx="5181600" cy="344651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2500" b="1" u="sng" dirty="0">
                <a:latin typeface="Calibri "/>
              </a:rPr>
              <a:t>ARCHITECTURE</a:t>
            </a:r>
          </a:p>
          <a:p>
            <a:r>
              <a:rPr lang="en-IN" sz="2500" dirty="0">
                <a:latin typeface="Calibri "/>
              </a:rPr>
              <a:t>○ </a:t>
            </a:r>
            <a:r>
              <a:rPr lang="en-IN" sz="2500" b="1" dirty="0">
                <a:latin typeface="Calibri "/>
              </a:rPr>
              <a:t>Zero-Trust access control</a:t>
            </a:r>
            <a:r>
              <a:rPr lang="en-IN" sz="2500" dirty="0">
                <a:latin typeface="Calibri "/>
              </a:rPr>
              <a:t> verifies identity, role, clearance, case, location and time before granting access.</a:t>
            </a:r>
          </a:p>
          <a:p>
            <a:r>
              <a:rPr lang="en-IN" sz="2500" dirty="0">
                <a:latin typeface="Calibri "/>
              </a:rPr>
              <a:t>○ </a:t>
            </a:r>
            <a:r>
              <a:rPr lang="en-IN" sz="2500" b="1" dirty="0">
                <a:latin typeface="Calibri "/>
              </a:rPr>
              <a:t>Secure upload pipeline</a:t>
            </a:r>
            <a:r>
              <a:rPr lang="en-IN" sz="2500" dirty="0">
                <a:latin typeface="Calibri "/>
              </a:rPr>
              <a:t> validates files, scans malware and checks authenticity before storage.</a:t>
            </a:r>
          </a:p>
          <a:p>
            <a:r>
              <a:rPr lang="en-IN" sz="2500" dirty="0">
                <a:latin typeface="Calibri "/>
              </a:rPr>
              <a:t>○ </a:t>
            </a:r>
            <a:r>
              <a:rPr lang="en-IN" sz="2500" b="1" dirty="0">
                <a:latin typeface="Calibri "/>
              </a:rPr>
              <a:t>AI-based evidence analysis</a:t>
            </a:r>
            <a:r>
              <a:rPr lang="en-IN" sz="2500" dirty="0">
                <a:latin typeface="Calibri "/>
              </a:rPr>
              <a:t> detects tampering, deepfakes, duplicates and suspicious content.</a:t>
            </a:r>
          </a:p>
          <a:p>
            <a:r>
              <a:rPr lang="en-IN" sz="2500" dirty="0">
                <a:latin typeface="Calibri "/>
              </a:rPr>
              <a:t>○ </a:t>
            </a:r>
            <a:r>
              <a:rPr lang="en-IN" sz="2500" b="1" dirty="0">
                <a:latin typeface="Calibri "/>
              </a:rPr>
              <a:t>Digital fingerprinting</a:t>
            </a:r>
            <a:r>
              <a:rPr lang="en-IN" sz="2500" dirty="0">
                <a:latin typeface="Calibri "/>
              </a:rPr>
              <a:t> generates SHA-256/perceptual hashes to identify and verify evidence.</a:t>
            </a:r>
          </a:p>
          <a:p>
            <a:r>
              <a:rPr lang="en-IN" sz="2500" dirty="0">
                <a:latin typeface="Calibri "/>
              </a:rPr>
              <a:t>○ </a:t>
            </a:r>
            <a:r>
              <a:rPr lang="en-IN" sz="2500" b="1" dirty="0">
                <a:latin typeface="Calibri "/>
              </a:rPr>
              <a:t>Encrypted evidence vault</a:t>
            </a:r>
            <a:r>
              <a:rPr lang="en-IN" sz="2500" dirty="0">
                <a:latin typeface="Calibri "/>
              </a:rPr>
              <a:t> securely stores documents, media, transcripts and metadata.</a:t>
            </a:r>
          </a:p>
          <a:p>
            <a:r>
              <a:rPr lang="en-IN" sz="2500" dirty="0">
                <a:latin typeface="Calibri "/>
              </a:rPr>
              <a:t>○ </a:t>
            </a:r>
            <a:r>
              <a:rPr lang="en-IN" sz="2500" b="1" dirty="0">
                <a:latin typeface="Calibri "/>
              </a:rPr>
              <a:t>Continuous integrity monitoring</a:t>
            </a:r>
            <a:r>
              <a:rPr lang="en-IN" sz="2500" dirty="0">
                <a:latin typeface="Calibri "/>
              </a:rPr>
              <a:t> periodically verifies stored evidence against its original fingerprint.</a:t>
            </a:r>
          </a:p>
          <a:p>
            <a:r>
              <a:rPr lang="en-IN" sz="2500" dirty="0">
                <a:latin typeface="Calibri "/>
              </a:rPr>
              <a:t>○ </a:t>
            </a:r>
            <a:r>
              <a:rPr lang="en-IN" sz="2500" b="1" dirty="0">
                <a:latin typeface="Calibri "/>
              </a:rPr>
              <a:t>Immutable chain of custody</a:t>
            </a:r>
            <a:r>
              <a:rPr lang="en-IN" sz="2500" dirty="0">
                <a:latin typeface="Calibri "/>
              </a:rPr>
              <a:t> records every access, modification, download and sharing activity.</a:t>
            </a:r>
          </a:p>
          <a:p>
            <a:r>
              <a:rPr lang="en-IN" sz="2500" dirty="0">
                <a:latin typeface="Calibri "/>
              </a:rPr>
              <a:t>○ </a:t>
            </a:r>
            <a:r>
              <a:rPr lang="en-IN" sz="2500" b="1" dirty="0">
                <a:latin typeface="Calibri "/>
              </a:rPr>
              <a:t>AI case intelligence</a:t>
            </a:r>
            <a:r>
              <a:rPr lang="en-IN" sz="2500" dirty="0">
                <a:latin typeface="Calibri "/>
              </a:rPr>
              <a:t> generates transcripts, timelines and detects inconsistencies.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C7FA69-8347-8EAD-CF18-7AF78A99DD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7" name="Picture 6" descr="Image 0.png">
            <a:extLst>
              <a:ext uri="{FF2B5EF4-FFF2-40B4-BE49-F238E27FC236}">
                <a16:creationId xmlns:a16="http://schemas.microsoft.com/office/drawing/2014/main" id="{91C07B18-1C53-F772-B534-A0B3EE7D1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46304"/>
            <a:ext cx="475488" cy="4754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640D75-0FF8-D3A7-C3EF-5BFACE87287B}"/>
              </a:ext>
            </a:extLst>
          </p:cNvPr>
          <p:cNvSpPr txBox="1"/>
          <p:nvPr/>
        </p:nvSpPr>
        <p:spPr>
          <a:xfrm>
            <a:off x="713232" y="146304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1B2A4A"/>
                </a:solidFill>
                <a:latin typeface="Calibri"/>
              </a:defRPr>
            </a:pPr>
            <a:r>
              <a:rPr sz="1100" b="1" dirty="0">
                <a:solidFill>
                  <a:srgbClr val="1B2A4A"/>
                </a:solidFill>
                <a:latin typeface="Calibri"/>
                <a:ea typeface="ＭＳ Ｐゴシック" pitchFamily="1" charset="-128"/>
              </a:rPr>
              <a:t>TECH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D9EEBB-48D9-02F7-74A9-EE1497990DE2}"/>
              </a:ext>
            </a:extLst>
          </p:cNvPr>
          <p:cNvSpPr txBox="1"/>
          <p:nvPr/>
        </p:nvSpPr>
        <p:spPr>
          <a:xfrm>
            <a:off x="713232" y="320040"/>
            <a:ext cx="868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C1611A"/>
                </a:solidFill>
                <a:latin typeface="Calibri"/>
              </a:defRPr>
            </a:pPr>
            <a:r>
              <a:rPr sz="1100" b="1" dirty="0">
                <a:solidFill>
                  <a:srgbClr val="C1611A"/>
                </a:solidFill>
                <a:latin typeface="Calibri"/>
                <a:ea typeface="ＭＳ Ｐゴシック" pitchFamily="1" charset="-128"/>
              </a:rPr>
              <a:t>KNIGHTS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CF66B5-FB18-4465-244B-CA0440B152B0}"/>
              </a:ext>
            </a:extLst>
          </p:cNvPr>
          <p:cNvSpPr txBox="1"/>
          <p:nvPr/>
        </p:nvSpPr>
        <p:spPr>
          <a:xfrm>
            <a:off x="305657" y="3884693"/>
            <a:ext cx="686570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 </a:t>
            </a:r>
            <a:r>
              <a:rPr lang="en-IN" sz="1200" b="1" u="sng" dirty="0">
                <a:latin typeface="Calibri "/>
              </a:rPr>
              <a:t>COMPONENTS</a:t>
            </a:r>
          </a:p>
          <a:p>
            <a:r>
              <a:rPr lang="en-IN" sz="1200" dirty="0">
                <a:latin typeface="Calibri "/>
              </a:rPr>
              <a:t>○ </a:t>
            </a:r>
            <a:r>
              <a:rPr lang="en-IN" sz="1200" b="1" dirty="0">
                <a:latin typeface="Calibri "/>
              </a:rPr>
              <a:t>Authentication Module:</a:t>
            </a:r>
            <a:r>
              <a:rPr lang="en-IN" sz="1200" dirty="0">
                <a:latin typeface="Calibri "/>
              </a:rPr>
              <a:t> MFA and biometric verification.</a:t>
            </a:r>
          </a:p>
          <a:p>
            <a:r>
              <a:rPr lang="en-IN" sz="1200" dirty="0">
                <a:latin typeface="Calibri "/>
              </a:rPr>
              <a:t>○ </a:t>
            </a:r>
            <a:r>
              <a:rPr lang="en-IN" sz="1200" b="1" dirty="0">
                <a:latin typeface="Calibri "/>
              </a:rPr>
              <a:t>Access Control Engine:</a:t>
            </a:r>
            <a:r>
              <a:rPr lang="en-IN" sz="1200" dirty="0">
                <a:latin typeface="Calibri "/>
              </a:rPr>
              <a:t> RBAC/ABAC-based permissions.</a:t>
            </a:r>
          </a:p>
          <a:p>
            <a:r>
              <a:rPr lang="en-IN" sz="1200" dirty="0">
                <a:latin typeface="Calibri "/>
              </a:rPr>
              <a:t>○ </a:t>
            </a:r>
            <a:r>
              <a:rPr lang="en-IN" sz="1200" b="1" dirty="0">
                <a:latin typeface="Calibri "/>
              </a:rPr>
              <a:t>Security Engine:</a:t>
            </a:r>
            <a:r>
              <a:rPr lang="en-IN" sz="1200" dirty="0">
                <a:latin typeface="Calibri "/>
              </a:rPr>
              <a:t> Encryption, malware scanning and secure storage.</a:t>
            </a:r>
          </a:p>
          <a:p>
            <a:r>
              <a:rPr lang="en-IN" sz="1200" dirty="0">
                <a:latin typeface="Calibri "/>
              </a:rPr>
              <a:t>○ </a:t>
            </a:r>
            <a:r>
              <a:rPr lang="en-IN" sz="1200" b="1" dirty="0">
                <a:latin typeface="Calibri "/>
              </a:rPr>
              <a:t>Evidence Intelligence:</a:t>
            </a:r>
            <a:r>
              <a:rPr lang="en-IN" sz="1200" dirty="0">
                <a:latin typeface="Calibri "/>
              </a:rPr>
              <a:t> AI tamper, deepfake and duplicate detection.</a:t>
            </a:r>
          </a:p>
          <a:p>
            <a:r>
              <a:rPr lang="en-IN" sz="1200" dirty="0">
                <a:latin typeface="Calibri "/>
              </a:rPr>
              <a:t>○ </a:t>
            </a:r>
            <a:r>
              <a:rPr lang="en-IN" sz="1200" b="1" dirty="0">
                <a:latin typeface="Calibri "/>
              </a:rPr>
              <a:t>Integrity Engine:</a:t>
            </a:r>
            <a:r>
              <a:rPr lang="en-IN" sz="1200" dirty="0">
                <a:latin typeface="Calibri "/>
              </a:rPr>
              <a:t> Hashing, digital seals and continuous verification.</a:t>
            </a:r>
          </a:p>
          <a:p>
            <a:r>
              <a:rPr lang="en-IN" sz="1200" dirty="0">
                <a:latin typeface="Calibri "/>
              </a:rPr>
              <a:t>○ </a:t>
            </a:r>
            <a:r>
              <a:rPr lang="en-IN" sz="1200" b="1" dirty="0">
                <a:latin typeface="Calibri "/>
              </a:rPr>
              <a:t>Audit Module:</a:t>
            </a:r>
            <a:r>
              <a:rPr lang="en-IN" sz="1200" dirty="0">
                <a:latin typeface="Calibri "/>
              </a:rPr>
              <a:t> Immutable logs and chain-of-custody tracking.</a:t>
            </a:r>
          </a:p>
          <a:p>
            <a:r>
              <a:rPr lang="en-IN" sz="1200" dirty="0">
                <a:latin typeface="Calibri "/>
              </a:rPr>
              <a:t>○ </a:t>
            </a:r>
            <a:r>
              <a:rPr lang="en-IN" sz="1200" b="1" dirty="0">
                <a:latin typeface="Calibri "/>
              </a:rPr>
              <a:t>Privacy Module:</a:t>
            </a:r>
            <a:r>
              <a:rPr lang="en-IN" sz="1200" dirty="0">
                <a:latin typeface="Calibri "/>
              </a:rPr>
              <a:t> Redaction and controlled document sharing.</a:t>
            </a:r>
          </a:p>
          <a:p>
            <a:r>
              <a:rPr lang="en-IN" sz="1200" dirty="0">
                <a:latin typeface="Calibri "/>
              </a:rPr>
              <a:t>○ </a:t>
            </a:r>
            <a:r>
              <a:rPr lang="en-IN" sz="1200" b="1" dirty="0">
                <a:latin typeface="Calibri "/>
              </a:rPr>
              <a:t>Emergency Module:</a:t>
            </a:r>
            <a:r>
              <a:rPr lang="en-IN" sz="1200" dirty="0">
                <a:latin typeface="Calibri "/>
              </a:rPr>
              <a:t> Temporary access, duress mode and dual authorization.</a:t>
            </a:r>
          </a:p>
          <a:p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BD365B5-17A8-635F-F8F8-51359CE708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0" t="21415" r="28530" b="29657"/>
          <a:stretch>
            <a:fillRect/>
          </a:stretch>
        </p:blipFill>
        <p:spPr>
          <a:xfrm>
            <a:off x="438912" y="1053194"/>
            <a:ext cx="6732450" cy="29663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45E0828-0D67-D4FD-6D78-CAB574BFA3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9109" r="14466"/>
          <a:stretch>
            <a:fillRect/>
          </a:stretch>
        </p:blipFill>
        <p:spPr>
          <a:xfrm>
            <a:off x="5445303" y="5228009"/>
            <a:ext cx="6746697" cy="968980"/>
          </a:xfrm>
          <a:prstGeom prst="rect">
            <a:avLst/>
          </a:prstGeom>
        </p:spPr>
      </p:pic>
      <p:sp>
        <p:nvSpPr>
          <p:cNvPr id="24" name="Subtitle 2">
            <a:extLst>
              <a:ext uri="{FF2B5EF4-FFF2-40B4-BE49-F238E27FC236}">
                <a16:creationId xmlns:a16="http://schemas.microsoft.com/office/drawing/2014/main" id="{396F9B60-11F8-805C-53F8-1FF524DDDC4F}"/>
              </a:ext>
            </a:extLst>
          </p:cNvPr>
          <p:cNvSpPr txBox="1">
            <a:spLocks/>
          </p:cNvSpPr>
          <p:nvPr/>
        </p:nvSpPr>
        <p:spPr>
          <a:xfrm>
            <a:off x="7428216" y="4802577"/>
            <a:ext cx="4976117" cy="42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u="sng" dirty="0">
                <a:latin typeface="Calibri "/>
              </a:rPr>
              <a:t>TECHNOLOGICAL STACK</a:t>
            </a:r>
            <a:endParaRPr lang="en-IN" sz="1400" b="1" u="sng" dirty="0">
              <a:latin typeface="Calibri 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tech_knights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475488" cy="47548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32688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932688" y="4206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1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651760" y="164592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3000" dirty="0"/>
          </a:p>
        </p:txBody>
      </p:sp>
      <p:pic>
        <p:nvPicPr>
          <p:cNvPr id="6" name="Image 1" descr="sih_logo_f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737360" cy="69585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914400"/>
            <a:ext cx="11640312" cy="0"/>
          </a:xfrm>
          <a:prstGeom prst="line">
            <a:avLst/>
          </a:prstGeom>
          <a:noFill/>
          <a:ln w="15875">
            <a:solidFill>
              <a:srgbClr val="1B2A4A"/>
            </a:solidFill>
            <a:prstDash val="dash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274320" y="1024128"/>
            <a:ext cx="37590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u="sng" dirty="0">
                <a:solidFill>
                  <a:srgbClr val="C1611A"/>
                </a:solidFill>
                <a:uFill>
                  <a:solidFill>
                    <a:srgbClr val="C1611A"/>
                  </a:solidFill>
                </a:u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Feasibility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274320" y="1298448"/>
            <a:ext cx="3759098" cy="2359152"/>
          </a:xfrm>
          <a:prstGeom prst="rect">
            <a:avLst>
              <a:gd name="adj" fmla="val 2326"/>
            </a:avLst>
          </a:prstGeom>
          <a:ln w="19050">
            <a:solidFill>
              <a:srgbClr val="C1611A"/>
            </a:solidFill>
            <a:prstDash val="dash"/>
          </a:ln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411480" y="1426464"/>
            <a:ext cx="3484778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200"/>
              </a:lnSpc>
              <a:buSzPct val="100000"/>
              <a:buChar char="●"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encrypted access</a:t>
            </a:r>
            <a:pPr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MFA + officer→dept→role→case hierarchy (OAuth2/TOTP).</a:t>
            </a:r>
            <a:endParaRPr lang="en-US" sz="1000" dirty="0"/>
          </a:p>
          <a:p>
            <a:pPr marL="152400" indent="-152400">
              <a:lnSpc>
                <a:spcPts val="1200"/>
              </a:lnSpc>
              <a:buSzPct val="100000"/>
              <a:buChar char="●"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AES-256/RSA + SHA-256 fingerprinting</a:t>
            </a:r>
            <a:pPr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open-source; flags tampering instantly.</a:t>
            </a:r>
            <a:endParaRPr lang="en-US" sz="1000" dirty="0"/>
          </a:p>
          <a:p>
            <a:pPr marL="152400" indent="-152400">
              <a:lnSpc>
                <a:spcPts val="1200"/>
              </a:lnSpc>
              <a:buSzPct val="100000"/>
              <a:buChar char="●"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deepfake/tamper detection</a:t>
            </a:r>
            <a:pPr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open-source models, self-hosted (no per-scan fee).</a:t>
            </a:r>
            <a:endParaRPr lang="en-US" sz="1000" dirty="0"/>
          </a:p>
          <a:p>
            <a:pPr marL="152400" indent="-152400">
              <a:lnSpc>
                <a:spcPts val="1200"/>
              </a:lnSpc>
              <a:buSzPct val="100000"/>
              <a:buChar char="●"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hash-chained logbook</a:t>
            </a:r>
            <a:pPr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tamper-evident chain-of-custody, no blockchain overhead.</a:t>
            </a:r>
            <a:endParaRPr lang="en-US" sz="1000" dirty="0"/>
          </a:p>
          <a:p>
            <a:pPr marL="152400" indent="-152400">
              <a:lnSpc>
                <a:spcPts val="1200"/>
              </a:lnSpc>
              <a:buSzPct val="100000"/>
              <a:buChar char="●"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Perceptual-hash duplicate detection</a:t>
            </a:r>
            <a:pPr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auto-links duplicate/near-duplicate evidence.</a:t>
            </a:r>
            <a:endParaRPr lang="en-US" sz="1000" dirty="0"/>
          </a:p>
          <a:p>
            <a:pPr marL="152400" indent="-152400">
              <a:lnSpc>
                <a:spcPts val="1200"/>
              </a:lnSpc>
              <a:buSzPct val="100000"/>
              <a:buChar char="●"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auto-redaction &amp; timeline-builder</a:t>
            </a:r>
            <a:pPr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redacts sensitive fields, extracts case events.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4216298" y="1024128"/>
            <a:ext cx="37590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u="sng" dirty="0">
                <a:solidFill>
                  <a:srgbClr val="1B2A4A"/>
                </a:solidFill>
                <a:uFill>
                  <a:solidFill>
                    <a:srgbClr val="1B2A4A"/>
                  </a:solidFill>
                </a:u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Economical Feasibility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16298" y="1316736"/>
          <a:ext cx="3759098" cy="2340864"/>
        </p:xfrm>
        <a:graphic>
          <a:graphicData uri="http://schemas.openxmlformats.org/drawingml/2006/table">
            <a:tbl>
              <a:tblPr/>
              <a:tblGrid>
                <a:gridCol w="1278093"/>
                <a:gridCol w="1278093"/>
                <a:gridCol w="1202911"/>
              </a:tblGrid>
              <a:tr h="3344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Parameter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/ Legacy Records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Smart System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2"/>
                    </a:solidFill>
                  </a:tcPr>
                </a:tc>
              </a:tr>
              <a:tr h="3344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Cost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Low, paper-based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₹0–1k (pilot; free-tier + OSS)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4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Manpower Required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 records clerks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admin + automation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4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Time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days manual cross-check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(seconds)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4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Tamper Detection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error-prone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hash re-check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4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&amp; Retrieval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Physical, slow, degradable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Encrypted, instant search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4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Cost Cut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50–60%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8158277" y="1024128"/>
            <a:ext cx="37590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i="1" u="sng" dirty="0">
                <a:solidFill>
                  <a:srgbClr val="1565C0"/>
                </a:solidFill>
                <a:uFill>
                  <a:solidFill>
                    <a:srgbClr val="1565C0"/>
                  </a:solidFill>
                </a:u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&amp; Safety Feasibility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158277" y="1298448"/>
            <a:ext cx="3759098" cy="2359152"/>
          </a:xfrm>
          <a:prstGeom prst="rect">
            <a:avLst>
              <a:gd name="adj" fmla="val 2326"/>
            </a:avLst>
          </a:prstGeom>
          <a:ln w="19050">
            <a:solidFill>
              <a:srgbClr val="1565C0"/>
            </a:solidFill>
            <a:prstDash val="dash"/>
          </a:ln>
        </p:spPr>
        <p:txBody>
          <a:bodyPr/>
          <a:p/>
        </p:txBody>
      </p:sp>
      <p:sp>
        <p:nvSpPr>
          <p:cNvPr id="15" name="Text 10"/>
          <p:cNvSpPr txBox="1"/>
          <p:nvPr/>
        </p:nvSpPr>
        <p:spPr>
          <a:xfrm>
            <a:off x="8295437" y="1426464"/>
            <a:ext cx="3484778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integrity checks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hashes are quietly re-verified on a timer, not only on access.</a:t>
            </a:r>
            <a:endParaRPr lang="en-US" sz="1100" dirty="0"/>
          </a:p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&amp; tamper scanning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at repeated intervals automatically in the background.</a:t>
            </a:r>
            <a:endParaRPr lang="en-US" sz="1100" dirty="0"/>
          </a:p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/ duress access mode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opens a decoy view and silently alerts authorities under threat.</a:t>
            </a:r>
            <a:endParaRPr lang="en-US" sz="1100" dirty="0"/>
          </a:p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Two-person deletion rule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no single user can permanently erase evidence alone.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274320" y="3803904"/>
            <a:ext cx="37590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u="sng" dirty="0">
                <a:solidFill>
                  <a:srgbClr val="C1611A"/>
                </a:solidFill>
                <a:uFill>
                  <a:solidFill>
                    <a:srgbClr val="C1611A"/>
                  </a:solidFill>
                </a:u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Cost &amp; Resources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274320" y="4078224"/>
            <a:ext cx="3759098" cy="2706624"/>
          </a:xfrm>
          <a:prstGeom prst="rect">
            <a:avLst>
              <a:gd name="adj" fmla="val 2027"/>
            </a:avLst>
          </a:prstGeom>
          <a:ln w="19050">
            <a:solidFill>
              <a:srgbClr val="C1611A"/>
            </a:solidFill>
            <a:prstDash val="dash"/>
          </a:ln>
        </p:spPr>
        <p:txBody>
          <a:bodyPr/>
          <a:p/>
        </p:txBody>
      </p:sp>
      <p:sp>
        <p:nvSpPr>
          <p:cNvPr id="18" name="Text 13"/>
          <p:cNvSpPr txBox="1"/>
          <p:nvPr/>
        </p:nvSpPr>
        <p:spPr>
          <a:xfrm>
            <a:off x="411480" y="4206240"/>
            <a:ext cx="348477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200"/>
              </a:lnSpc>
              <a:buSzPct val="100000"/>
              <a:buChar char="●"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the team</a:t>
            </a:r>
            <a:pPr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open-source stack – ₹0 development cost, no hired team.</a:t>
            </a:r>
            <a:endParaRPr lang="en-US" sz="1000" dirty="0"/>
          </a:p>
          <a:p>
            <a:pPr marL="152400" indent="-152400">
              <a:lnSpc>
                <a:spcPts val="1200"/>
              </a:lnSpc>
              <a:buSzPct val="100000"/>
              <a:buChar char="●"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on free-tier cloud</a:t>
            </a:r>
            <a:pPr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(AWS/Azure/GCP Student, Oracle Always Free) – ₹0 for pilot.</a:t>
            </a:r>
            <a:endParaRPr lang="en-US" sz="1000" dirty="0"/>
          </a:p>
          <a:p>
            <a:pPr marL="152400" indent="-152400">
              <a:lnSpc>
                <a:spcPts val="1200"/>
              </a:lnSpc>
              <a:buSzPct val="100000"/>
              <a:buChar char="●"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name (.in)</a:t>
            </a:r>
            <a:pPr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≈ ₹700/yr – the only real recurring expense.</a:t>
            </a:r>
            <a:endParaRPr lang="en-US" sz="1000" dirty="0"/>
          </a:p>
          <a:p>
            <a:pPr marL="152400" indent="-152400">
              <a:lnSpc>
                <a:spcPts val="1200"/>
              </a:lnSpc>
              <a:buSzPct val="100000"/>
              <a:buChar char="●"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certificate</a:t>
            </a:r>
            <a:pPr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free, via Let's Encrypt.</a:t>
            </a:r>
            <a:endParaRPr lang="en-US" sz="1000" dirty="0"/>
          </a:p>
          <a:p>
            <a:pPr marL="152400" indent="-152400">
              <a:lnSpc>
                <a:spcPts val="1200"/>
              </a:lnSpc>
              <a:buSzPct val="100000"/>
              <a:buChar char="●"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pPr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 on free Colab/Kaggle GPU credits – ₹0 during pilot.</a:t>
            </a:r>
            <a:endParaRPr lang="en-US" sz="1000" dirty="0"/>
          </a:p>
          <a:p>
            <a:pPr marL="152400" indent="-152400">
              <a:lnSpc>
                <a:spcPts val="1200"/>
              </a:lnSpc>
              <a:buSzPct val="100000"/>
              <a:buChar char="●"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cost: under ₹1,000 total</a:t>
            </a:r>
            <a:pPr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(your own team, free-tier cloud, open-source stack).</a:t>
            </a:r>
            <a:endParaRPr lang="en-US" sz="1000" dirty="0"/>
          </a:p>
          <a:p>
            <a:pPr marL="152400" indent="-152400">
              <a:lnSpc>
                <a:spcPts val="1200"/>
              </a:lnSpc>
              <a:buSzPct val="100000"/>
              <a:buChar char="●"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state develops &amp; deploys it:</a:t>
            </a:r>
            <a:pPr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reuse NIC cloud/CCTNS infra + empanelled devs (~3–4 months) ≈ ₹5–8 Lakh one-time, ≈ ₹1–2 Lakh/yr upkeep – cheapest route since it's built on infra govt already owns, not fresh servers/vendors.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4216298" y="3803904"/>
            <a:ext cx="37590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u="sng" dirty="0">
                <a:solidFill>
                  <a:srgbClr val="1B2A4A"/>
                </a:solidFill>
                <a:uFill>
                  <a:solidFill>
                    <a:srgbClr val="1B2A4A"/>
                  </a:solidFill>
                </a:u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Viability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16298" y="4096512"/>
          <a:ext cx="3759098" cy="2688336"/>
        </p:xfrm>
        <a:graphic>
          <a:graphicData uri="http://schemas.openxmlformats.org/drawingml/2006/table">
            <a:tbl>
              <a:tblPr/>
              <a:tblGrid>
                <a:gridCol w="1127730"/>
                <a:gridCol w="2631369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Element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Stack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AES/RSA encryption, SHA-256 hashing, MFA – widely available, low-cost.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Integration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 APIs – access hierarchy, audit log, deepfake scan plug in independently.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Readiness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ready for field testing; cloud deployment, no niche hardware.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 add-ons – duress mode, timeline builder, reputation scoring.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hourly integrity re-checks reduce manual upkeep.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5"/>
          <p:cNvSpPr txBox="1"/>
          <p:nvPr/>
        </p:nvSpPr>
        <p:spPr>
          <a:xfrm>
            <a:off x="8158277" y="3803904"/>
            <a:ext cx="37590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i="1" u="sng" dirty="0">
                <a:solidFill>
                  <a:srgbClr val="1E7A5F"/>
                </a:solidFill>
                <a:uFill>
                  <a:solidFill>
                    <a:srgbClr val="1E7A5F"/>
                  </a:solidFill>
                </a:u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Viability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8158277" y="4078224"/>
            <a:ext cx="3759098" cy="2706624"/>
          </a:xfrm>
          <a:prstGeom prst="rect">
            <a:avLst>
              <a:gd name="adj" fmla="val 2027"/>
            </a:avLst>
          </a:prstGeom>
          <a:ln w="19050">
            <a:solidFill>
              <a:srgbClr val="1E7A5F"/>
            </a:solidFill>
            <a:prstDash val="dash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8295437" y="4206240"/>
            <a:ext cx="348477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paperless case files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eliminate printing, physical filing and evidence-room storage needs.</a:t>
            </a:r>
            <a:endParaRPr lang="en-US" sz="1100" dirty="0"/>
          </a:p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physical transport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documents between stations, courts and forensic labs.</a:t>
            </a:r>
            <a:endParaRPr lang="en-US" sz="1100" dirty="0"/>
          </a:p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Digital India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e-governance goals through secure digitisation.</a:t>
            </a:r>
            <a:endParaRPr lang="en-US" sz="1100" dirty="0"/>
          </a:p>
          <a:p>
            <a:pPr marL="152400" indent="-152400">
              <a:lnSpc>
                <a:spcPts val="1400"/>
              </a:lnSpc>
              <a:buSzPct val="100000"/>
              <a:buChar char="●"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long-term archival footprint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no warehousing of degrading paper records.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Impact Column"/>
          <p:cNvSpPr txBox="1">
            <a:spLocks noChangeArrowheads="1"/>
          </p:cNvSpPr>
          <p:nvPr/>
        </p:nvSpPr>
        <p:spPr bwMode="auto">
          <a:xfrm>
            <a:off x="609600" y="1950000"/>
            <a:ext cx="5334000" cy="43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l" defTabSz="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Investigators, prosecutors and courts get faster, verifiable access to case files, cutting delays caused by manual filing and lost records</a:t>
            </a:r>
          </a:p>
          <a:p>
            <a:pPr marL="342900" marR="0" lvl="0" indent="-342900" algn="l" defTabSz="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 single, auditable source of truth for case records reduces procedural errors and disputes over documentation</a:t>
            </a:r>
          </a:p>
          <a:p>
            <a:pPr marL="342900" marR="0" lvl="0" indent="-342900" algn="l" defTabSz="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Citizens benefit from faster case resolution and greater confidence that evidence has not been tampered with</a:t>
            </a:r>
          </a:p>
          <a:p>
            <a:pPr marL="342900" marR="0" lvl="0" indent="-342900" algn="l" defTabSz="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Agencies gain role-based, encrypted access with full audit trails, protecting chain-of-custody integrity</a:t>
            </a:r>
          </a:p>
        </p:txBody>
      </p:sp>
      <p:sp>
        <p:nvSpPr>
          <p:cNvPr id="17420" name="Benefits Header"/>
          <p:cNvSpPr txBox="1"/>
          <p:nvPr/>
        </p:nvSpPr>
        <p:spPr bwMode="auto">
          <a:xfrm>
            <a:off x="6400800" y="1950000"/>
            <a:ext cx="5182200" cy="5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Benefits of the Solution</a:t>
            </a:r>
          </a:p>
        </p:txBody>
      </p:sp>
      <p:sp>
        <p:nvSpPr>
          <p:cNvPr id="17421" name="Card Social"/>
          <p:cNvSpPr/>
          <p:nvPr/>
        </p:nvSpPr>
        <p:spPr>
          <a:xfrm>
            <a:off x="6400800" y="2600000"/>
            <a:ext cx="5182200" cy="80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Social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Builds public trust through tamper-proof records and improves access to justice</a:t>
            </a:r>
          </a:p>
        </p:txBody>
      </p:sp>
      <p:sp>
        <p:nvSpPr>
          <p:cNvPr id="17422" name="Card Economic"/>
          <p:cNvSpPr/>
          <p:nvPr/>
        </p:nvSpPr>
        <p:spPr>
          <a:xfrm>
            <a:off x="6400800" y="3520000"/>
            <a:ext cx="5182200" cy="80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Economic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Cuts storage and retrieval costs, and reduces case backlogs and admin man-hours</a:t>
            </a:r>
          </a:p>
        </p:txBody>
      </p:sp>
      <p:sp>
        <p:nvSpPr>
          <p:cNvPr id="17423" name="Card Environmental"/>
          <p:cNvSpPr/>
          <p:nvPr/>
        </p:nvSpPr>
        <p:spPr>
          <a:xfrm>
            <a:off x="6400800" y="4440000"/>
            <a:ext cx="5182200" cy="800000"/>
          </a:xfrm>
          <a:prstGeom prst="roundRect">
            <a:avLst>
              <a:gd name="adj" fmla="val 8000"/>
            </a:avLst>
          </a:prstGeom>
          <a:solidFill>
            <a:srgbClr val="70AD47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Environmental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Reduces paper usage and physical archive space, supporting paperless legal infrastructure</a:t>
            </a:r>
          </a:p>
        </p:txBody>
      </p:sp>
      <p:sp>
        <p:nvSpPr>
          <p:cNvPr id="17424" name="Card Security"/>
          <p:cNvSpPr/>
          <p:nvPr/>
        </p:nvSpPr>
        <p:spPr>
          <a:xfrm>
            <a:off x="6400800" y="5360000"/>
            <a:ext cx="5182200" cy="800000"/>
          </a:xfrm>
          <a:prstGeom prst="roundRect">
            <a:avLst>
              <a:gd name="adj" fmla="val 8000"/>
            </a:avLst>
          </a:prstGeom>
          <a:solidFill>
            <a:srgbClr val="7030A0"/>
          </a:solidFill>
          <a:ln>
            <a:noFill/>
          </a:ln>
        </p:spPr>
        <p:txBody>
          <a:bodyPr wrap="square" lIns="137160" tIns="45720" rIns="137160" bIns="4572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Security &amp; Governance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Role-based access and audit trails prevent tampering, protecting chain-of-custody integrity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2" name="Team Logo" descr="Tech Knight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30200"/>
            <a:ext cx="1375057" cy="4754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17410" name="Impact Column"/>
          <p:cNvSpPr txBox="1">
            <a:spLocks noChangeArrowheads="1"/>
          </p:cNvSpPr>
          <p:nvPr/>
        </p:nvSpPr>
        <p:spPr bwMode="auto">
          <a:xfrm>
            <a:off x="609600" y="1750000"/>
            <a:ext cx="5486400" cy="45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 algn="l">
              <a:spcBef>
                <a:spcPts val="1200"/>
              </a:spcBef>
              <a:buNone/>
            </a:pPr>
            <a:r>
              <a:rPr lang="en-US" sz="1800" b="1" dirty="0">
                <a:solidFill>
                  <a:srgbClr val="0070C0"/>
                </a:solidFill>
                <a:latin typeface="Arial" pitchFamily="34" charset="0"/>
              </a:rPr>
              <a:t>Government &amp; Policy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Information Technology Act, 2000 - Ministry of Electronics &amp; IT, Government of India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Indian Evidence Act, 1872 - Section 65B, Admissibility of Electronic Records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Crime &amp; Criminal Tracking Network &amp; Systems (CCTNS) / ICJS - Ministry of Home Affairs, GoI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e-Courts Mission Mode Project, Phase III (2023-2027) - Department of Justice, GoI</a:t>
            </a:r>
          </a:p>
          <a:p>
            <a:pPr marL="0" indent="0" algn="l">
              <a:spcBef>
                <a:spcPts val="1200"/>
              </a:spcBef>
              <a:buNone/>
            </a:pPr>
            <a:r>
              <a:rPr lang="en-US" sz="1800" b="1" dirty="0">
                <a:solidFill>
                  <a:srgbClr val="0070C0"/>
                </a:solidFill>
                <a:latin typeface="Arial" pitchFamily="34" charset="0"/>
              </a:rPr>
              <a:t>Cryptography &amp; Security Standards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NIST FIPS 197 - Advanced Encryption Standard (AES)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NIST FIPS 180-4 - Secure Hash Standard (SHA-256)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Excavating Vulnerabilities in Multi-Factor Authentication Protocols (arXiv, 2024)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2" name="Team Logo" descr="Tech Knight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30200"/>
            <a:ext cx="1375057" cy="4754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ferences Column 2"/>
          <p:cNvSpPr txBox="1">
            <a:spLocks noChangeArrowheads="1"/>
          </p:cNvSpPr>
          <p:nvPr/>
        </p:nvSpPr>
        <p:spPr bwMode="auto">
          <a:xfrm>
            <a:off x="6400800" y="1750000"/>
            <a:ext cx="5182200" cy="45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 algn="l">
              <a:spcBef>
                <a:spcPts val="1200"/>
              </a:spcBef>
              <a:buNone/>
            </a:pPr>
            <a:r>
              <a:rPr lang="en-US" sz="1800" b="1" dirty="0">
                <a:solidFill>
                  <a:srgbClr val="0070C0"/>
                </a:solidFill>
                <a:latin typeface="Arial" pitchFamily="34" charset="0"/>
              </a:rPr>
              <a:t>AI Tamper &amp; Deepfake Detection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A Survey of Deepfake Detection Methods - IEEE, 2023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The Societal Impact of Deepfakes: Advances in Detection and Mitigation - IEEE, 2023</a:t>
            </a:r>
          </a:p>
          <a:p>
            <a:pPr marL="0" indent="0" algn="l">
              <a:spcBef>
                <a:spcPts val="1200"/>
              </a:spcBef>
              <a:buNone/>
            </a:pPr>
            <a:r>
              <a:rPr lang="en-US" sz="1800" b="1" dirty="0">
                <a:solidFill>
                  <a:srgbClr val="0070C0"/>
                </a:solidFill>
                <a:latin typeface="Arial" pitchFamily="34" charset="0"/>
              </a:rPr>
              <a:t>Digital Forensics &amp; Chain of Custody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Blockchain-Enhanced Chain of Custody for Digital Forensic Evidence Management - IEEE, 2025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B-CoC: A Blockchain-based Chain of Custody for Evidence Management in Digital Forensics (arXiv)</a:t>
            </a:r>
          </a:p>
          <a:p>
            <a:pPr marL="0" indent="0" algn="l">
              <a:spcBef>
                <a:spcPts val="1200"/>
              </a:spcBef>
              <a:buNone/>
            </a:pPr>
            <a:r>
              <a:rPr lang="en-US" sz="1800" b="1" dirty="0">
                <a:solidFill>
                  <a:srgbClr val="0070C0"/>
                </a:solidFill>
                <a:latin typeface="Arial" pitchFamily="34" charset="0"/>
              </a:rPr>
              <a:t>Access Control &amp; Identity Management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Role-Based Access Control (RBAC) in Modern Cloud Security Governance - IJSRCSEIT, 2025</a:t>
            </a:r>
          </a:p>
          <a:p>
            <a:pPr marL="285750" marR="0" lvl="0" indent="-285750" algn="l" defTabSz="457200">
              <a:spcBef>
                <a:spcPts val="600"/>
              </a:spcBef>
              <a:buFont typeface="Arial" pitchFamily="34" charset="0"/>
              <a:buChar char="◦"/>
            </a:pPr>
            <a:r>
              <a:rPr lang="en-US" sz="1200" u="sng" dirty="0">
                <a:solidFill>
                  <a:srgbClr val="0563C1"/>
                </a:solidFill>
                <a:latin typeface="Arial" pitchFamily="34" charset="0"/>
              </a:rPr>
              <a:t>ABAC vs RBAC: Access Control Models for Zero-Trust Architectures - Security Literature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