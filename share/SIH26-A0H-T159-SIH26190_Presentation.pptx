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png1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1" r:id="rId2"/>
    <p:sldMasterId id="2147483673" r:id="rId3"/>
    <p:sldMasterId id="2147483685" r:id="rId4"/>
    <p:sldMasterId id="2147483697" r:id="rId5"/>
  </p:sldMasterIdLst>
  <p:notesMasterIdLst>
    <p:notesMasterId r:id="rId12"/>
  </p:notesMasterIdLst>
  <p:sldIdLst>
    <p:sldId id="291" r:id="rId6"/>
    <p:sldId id="292" r:id="rId7"/>
    <p:sldId id="295" r:id="rId8"/>
    <p:sldId id="293" r:id="rId9"/>
    <p:sldId id="294" r:id="rId10"/>
    <p:sldId id="296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-108" y="-7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30-Aug-26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30-Aug-26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30-Aug-26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30-Aug-26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30-Aug-26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3CDE3D-304F-0D62-5312-8F4B2F2DF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13B6F51-9CDD-B444-F7CB-06448BA18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7DDE936-4B72-C589-5E98-52770109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BBB8E2-BE48-72E5-7A90-BE6BA0CD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D98B4-65D9-BB5C-941F-8A7D518A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13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34BABF-BB6B-843E-1846-FDAAE29D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1B15FB-3C01-9560-26B0-F87F68E8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433429-F1CE-0D23-2249-4537127D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5E63E5-F328-542D-C066-CA55AD73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4F55A4-E393-9F5A-C125-17E7818A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308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F48785-E97A-E434-EADD-A111B655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76A555-0AEB-5228-4E8A-C975BAF58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B0FC7D7-F0E3-F138-4C9D-23E31339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13C56D-EE53-373B-A59A-72E7A849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15B1C1-FFE1-F8EE-B153-45878FEF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986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41D84C-C7AD-040E-A7C5-E281D187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0867CD-8BA7-D2A6-011D-D05E57FE3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A2B1275-6BA3-998E-9C59-80745573B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9B67CE2-AB62-8650-562A-B42DC103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A4D07CB-A8A7-F1DC-67A2-BD0BEEED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CBE05AF-D279-28F0-C920-2C6C466F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76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98FA88-615B-A3A7-6745-87442EC1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1E3676C-764B-9239-E3BD-A59B2841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5CD8A9D-01C7-E15C-C40C-48636C8BE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4D17BA8-163A-F036-7078-63A3814C7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76C0616-D8B8-57CC-A319-029E98FD4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75B3F96-B7A6-CBB5-E251-14276830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A852870-C455-6B37-02B4-88E82678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A5F211D-B6F4-83F7-DA4D-E50F1782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37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003C5F-7424-F658-099A-298D6CAF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BE950D6-85EC-CAC8-4B37-4DFE9599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B29C2A9-5343-60C8-9766-3D4E24EE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3A30B2F-4A68-C8B4-0B47-8C1AD56B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582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372C325-1ED9-6971-8D99-B0953500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E645B1A-F272-9054-8941-C15790BE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15F003-0795-8147-F34E-AD70595D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6937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AB729D-C295-1194-E3AE-5981E826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30CB3B-E677-4173-28F5-7C3CF1B6A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B7451CF-6771-6FBB-C12E-F5C8414E6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FF1CC4D-1F1F-9883-5E33-DDF12D8F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A033B7F-70E9-E88C-B935-47C920BE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CC7D948-7CB0-E2EF-ADDA-0D4AC638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228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354E2F-DB34-16F5-1B6C-1883DE7B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446D4B7-B9D7-9CD3-7E20-01A35E719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9F9292F-E19D-9124-85A7-8159D088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4304DEC-200B-8369-0A79-B19A5296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2046DE6-6C8F-22A7-8DEE-FEEBB630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EEB7ECD-B514-0B41-27FA-25782B8C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1247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CBB39-FA3D-E669-0E63-B5DDBB8F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E8F3E38-CD1C-21CE-6768-C502BCC69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1C83A2-6A6A-3D3E-5385-4E8813A1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6FF0D0-51AF-052B-800B-35305A446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C1794E-56E4-2E23-62B2-F4B329B6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2838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0208AEA-1B71-2839-7407-6A3F41103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A15EFC7-9509-711C-07CE-F5D512886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22ABFC-C110-10F6-4D75-FC935CD1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8C54761-978A-6879-28CF-0B035265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85FF78-AA3E-1725-211A-0F077674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1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E926304-6386-613D-B473-E4EEEF1B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E8192A-FC4B-4090-C952-4122A1F7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DFA8F5-3770-176C-B3D1-887213BF9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38C5A4-6097-E43D-CB3B-4B6851C57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2270CA-1AF9-8603-4E63-C84FC6BAE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2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1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28800"/>
            <a:ext cx="5924550" cy="49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SIH26190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Secure Digital Document Management System for Legal and Investigation Documents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SIH26-A0H-T159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Tech Knights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PROPOSED SOLUTION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301" name="Box 301"/>
          <p:cNvSpPr/>
          <p:nvPr/>
        </p:nvSpPr>
        <p:spPr>
          <a:xfrm>
            <a:off x="380000" y="1900000"/>
            <a:ext cx="4573000" cy="43000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txBody>
          <a:bodyPr wrap="square" lIns="137160" tIns="100000" rIns="137160" bIns="10000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cs typeface="Calibri" pitchFamily="34" charset="0"/>
              </a:rPr>
              <a:t>SOLUTION :</a:t>
            </a:r>
          </a:p>
          <a:p>
            <a:pPr algn="l"/>
            <a:endParaRPr lang="en-US" sz="800" dirty="0"/>
          </a:p>
          <a:p>
            <a:pPr algn="l">
              <a:spcAft>
                <a:spcPts val="400"/>
              </a:spcAft>
            </a:pPr>
            <a:r>
              <a:rPr lang="en-US" sz="1250" dirty="0">
                <a:latin typeface="Calibri" pitchFamily="34" charset="0"/>
                <a:cs typeface="Calibri" pitchFamily="34" charset="0"/>
              </a:rPr>
              <a:t>An encrypted, AI-secured digital document management platform built for legal and investigation records – with tamper-proof verification at its core.</a:t>
            </a:r>
          </a:p>
          <a:p>
            <a:pPr algn="l"/>
            <a:endParaRPr lang="en-US" sz="800" dirty="0"/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Encrypted document vault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with role-, location- &amp; time-bound access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Digital fingerprint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auto-verifies every document, flags tampering instantly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AI deepfake &amp; tamper detection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for documents, audio and video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Immutable, chain-linked logbook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records every view, </a:t>
            </a:r>
            <a:r>
              <a:rPr lang="en-US" sz="1150" dirty="0" smtClean="0">
                <a:latin typeface="Calibri" pitchFamily="34" charset="0"/>
                <a:cs typeface="Calibri" pitchFamily="34" charset="0"/>
              </a:rPr>
              <a:t>download, edit 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and share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Hierarchical access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– Officer → MFA → Dept → Role → Clearance → Case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One-click “proof pack”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generation, ready for court submission</a:t>
            </a:r>
          </a:p>
        </p:txBody>
      </p:sp>
      <p:sp>
        <p:nvSpPr>
          <p:cNvPr id="302" name="Box 302"/>
          <p:cNvSpPr/>
          <p:nvPr/>
        </p:nvSpPr>
        <p:spPr>
          <a:xfrm>
            <a:off x="5153000" y="1900000"/>
            <a:ext cx="6659000" cy="16500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txBody>
          <a:bodyPr wrap="square" lIns="137160" tIns="100000" rIns="137160" bIns="100000" anchor="t">
            <a:normAutofit fontScale="92500" lnSpcReduction="20000"/>
          </a:bodyPr>
          <a:lstStyle/>
          <a:p>
            <a:pPr algn="l">
              <a:spcAft>
                <a:spcPts val="600"/>
              </a:spcAft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cs typeface="Calibri" pitchFamily="34" charset="0"/>
              </a:rPr>
              <a:t>Problem Resolution :</a:t>
            </a:r>
          </a:p>
          <a:p>
            <a:pPr algn="l"/>
            <a:endParaRPr lang="en-US" sz="800" dirty="0"/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200" b="1" dirty="0">
                <a:latin typeface="Calibri" pitchFamily="34" charset="0"/>
                <a:cs typeface="Calibri" pitchFamily="34" charset="0"/>
              </a:rPr>
              <a:t>MFA-based access control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eliminates unauthorized viewing across departments and 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cases. Also access is granted on a limited basis, subject to individual justification.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Continuous </a:t>
            </a:r>
            <a:r>
              <a:rPr lang="en-US" sz="1200" b="1" dirty="0" smtClean="0">
                <a:latin typeface="Calibri" pitchFamily="34" charset="0"/>
                <a:cs typeface="Calibri" pitchFamily="34" charset="0"/>
              </a:rPr>
              <a:t>verification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instantly flags tampering, replacing slow, error-prone manual 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checks and automatically detects duplicate documents.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dirty="0" smtClean="0">
                <a:cs typeface="Calibri" pitchFamily="34" charset="0"/>
              </a:rPr>
              <a:t>Sensitive cases are automatically assigned </a:t>
            </a:r>
            <a:r>
              <a:rPr lang="en-US" sz="1200" dirty="0" err="1" smtClean="0">
                <a:cs typeface="Calibri" pitchFamily="34" charset="0"/>
              </a:rPr>
              <a:t>anonymized</a:t>
            </a:r>
            <a:r>
              <a:rPr lang="en-US" sz="1200" dirty="0" smtClean="0">
                <a:cs typeface="Calibri" pitchFamily="34" charset="0"/>
              </a:rPr>
              <a:t> codes to maintain confidentiality and certain users are granted temporary</a:t>
            </a:r>
            <a:r>
              <a:rPr lang="en-US" sz="1200" smtClean="0">
                <a:cs typeface="Calibri" pitchFamily="34" charset="0"/>
              </a:rPr>
              <a:t>, time-bound access.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Chain-linked, unerasable logs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guarantee the unbroken chain of custody courts require</a:t>
            </a:r>
          </a:p>
        </p:txBody>
      </p:sp>
      <p:sp>
        <p:nvSpPr>
          <p:cNvPr id="303" name="Box 303"/>
          <p:cNvSpPr/>
          <p:nvPr/>
        </p:nvSpPr>
        <p:spPr>
          <a:xfrm>
            <a:off x="5153000" y="3750000"/>
            <a:ext cx="6659000" cy="24500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txBody>
          <a:bodyPr wrap="square" lIns="137160" tIns="100000" rIns="137160" bIns="10000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cs typeface="Calibri" pitchFamily="34" charset="0"/>
              </a:rPr>
              <a:t>Unique Value Propositions (UVP) :</a:t>
            </a:r>
          </a:p>
          <a:p>
            <a:pPr algn="l"/>
            <a:endParaRPr lang="en-US" sz="800" dirty="0"/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Panic/duress access mode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– opens a decoy view and silently alerts authorities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True redaction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permanently removes data, not just hides it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Background integrity checks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catch tampering even if a file sits untouched for weeks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AI-generated case timeline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auto-built from events across uploaded documents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Reputation-weighted access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for smoother, safer multi-agency case sharing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Image 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475488" cy="475488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713232" y="1463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TECH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713232" y="32004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1611A"/>
                </a:solidFill>
                <a:latin typeface="Calibri"/>
              </a:defRPr>
            </a:pPr>
            <a:r>
              <a:t>KNIGHTS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5357AA-8F29-7402-052F-E5CADC27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67"/>
            <a:ext cx="10515600" cy="1325563"/>
          </a:xfrm>
        </p:spPr>
        <p:txBody>
          <a:bodyPr/>
          <a:lstStyle/>
          <a:p>
            <a:r>
              <a:rPr lang="en-US" dirty="0"/>
              <a:t>              </a:t>
            </a:r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67BD222-C458-BDFE-38D0-3FD7499AF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25475" y="1334681"/>
            <a:ext cx="5181600" cy="34465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2500" b="1" u="sng" dirty="0">
                <a:latin typeface="Calibri "/>
              </a:rPr>
              <a:t>ARCHITECTURE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Zero-Trust access control</a:t>
            </a:r>
            <a:r>
              <a:rPr lang="en-IN" sz="2500" dirty="0">
                <a:latin typeface="Calibri "/>
              </a:rPr>
              <a:t> verifies identity, role, clearance, case, location and time before granting access.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Secure upload pipeline</a:t>
            </a:r>
            <a:r>
              <a:rPr lang="en-IN" sz="2500" dirty="0">
                <a:latin typeface="Calibri "/>
              </a:rPr>
              <a:t> validates files, scans malware and checks authenticity before storage.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AI-based evidence analysis</a:t>
            </a:r>
            <a:r>
              <a:rPr lang="en-IN" sz="2500" dirty="0">
                <a:latin typeface="Calibri "/>
              </a:rPr>
              <a:t> detects tampering, deepfakes, duplicates and suspicious content.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Digital fingerprinting</a:t>
            </a:r>
            <a:r>
              <a:rPr lang="en-IN" sz="2500" dirty="0">
                <a:latin typeface="Calibri "/>
              </a:rPr>
              <a:t> generates SHA-256/perceptual hashes to identify and verify evidence.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Encrypted evidence vault</a:t>
            </a:r>
            <a:r>
              <a:rPr lang="en-IN" sz="2500" dirty="0">
                <a:latin typeface="Calibri "/>
              </a:rPr>
              <a:t> securely stores documents, media, transcripts and metadata.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Continuous integrity monitoring</a:t>
            </a:r>
            <a:r>
              <a:rPr lang="en-IN" sz="2500" dirty="0">
                <a:latin typeface="Calibri "/>
              </a:rPr>
              <a:t> periodically verifies stored evidence against its original fingerprint.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Immutable chain of custody</a:t>
            </a:r>
            <a:r>
              <a:rPr lang="en-IN" sz="2500" dirty="0">
                <a:latin typeface="Calibri "/>
              </a:rPr>
              <a:t> records every access, modification, download and sharing activity.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AI case intelligence</a:t>
            </a:r>
            <a:r>
              <a:rPr lang="en-IN" sz="2500" dirty="0">
                <a:latin typeface="Calibri "/>
              </a:rPr>
              <a:t> generates transcripts, timelines and detects inconsistencies.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DC7FA69-8347-8EAD-CF18-7AF78A99D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" name="Picture 6" descr="Image 0.png">
            <a:extLst>
              <a:ext uri="{FF2B5EF4-FFF2-40B4-BE49-F238E27FC236}">
                <a16:creationId xmlns:a16="http://schemas.microsoft.com/office/drawing/2014/main" xmlns="" id="{91C07B18-1C53-F772-B534-A0B3EE7D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475488" cy="475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0640D75-0FF8-D3A7-C3EF-5BFACE87287B}"/>
              </a:ext>
            </a:extLst>
          </p:cNvPr>
          <p:cNvSpPr txBox="1"/>
          <p:nvPr/>
        </p:nvSpPr>
        <p:spPr>
          <a:xfrm>
            <a:off x="713232" y="1463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1B2A4A"/>
                </a:solidFill>
                <a:latin typeface="Calibri"/>
              </a:defRPr>
            </a:pPr>
            <a:r>
              <a:rPr sz="1100" b="1" dirty="0">
                <a:solidFill>
                  <a:srgbClr val="1B2A4A"/>
                </a:solidFill>
                <a:latin typeface="Calibri"/>
                <a:ea typeface="ＭＳ Ｐゴシック" pitchFamily="1" charset="-128"/>
              </a:rPr>
              <a:t>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5D9EEBB-48D9-02F7-74A9-EE1497990DE2}"/>
              </a:ext>
            </a:extLst>
          </p:cNvPr>
          <p:cNvSpPr txBox="1"/>
          <p:nvPr/>
        </p:nvSpPr>
        <p:spPr>
          <a:xfrm>
            <a:off x="713232" y="32004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C1611A"/>
                </a:solidFill>
                <a:latin typeface="Calibri"/>
              </a:defRPr>
            </a:pPr>
            <a:r>
              <a:rPr sz="1100" b="1" dirty="0">
                <a:solidFill>
                  <a:srgbClr val="C1611A"/>
                </a:solidFill>
                <a:latin typeface="Calibri"/>
                <a:ea typeface="ＭＳ Ｐゴシック" pitchFamily="1" charset="-128"/>
              </a:rPr>
              <a:t>KNIGHTS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BCF66B5-FB18-4465-244B-CA0440B152B0}"/>
              </a:ext>
            </a:extLst>
          </p:cNvPr>
          <p:cNvSpPr txBox="1"/>
          <p:nvPr/>
        </p:nvSpPr>
        <p:spPr>
          <a:xfrm>
            <a:off x="305657" y="3884693"/>
            <a:ext cx="68657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 </a:t>
            </a:r>
            <a:r>
              <a:rPr lang="en-IN" sz="1200" b="1" u="sng" dirty="0">
                <a:latin typeface="Calibri "/>
              </a:rPr>
              <a:t>COMPONENTS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Authentication Module:</a:t>
            </a:r>
            <a:r>
              <a:rPr lang="en-IN" sz="1200" dirty="0">
                <a:latin typeface="Calibri "/>
              </a:rPr>
              <a:t> MFA and biometric verification.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Access Control Engine:</a:t>
            </a:r>
            <a:r>
              <a:rPr lang="en-IN" sz="1200" dirty="0">
                <a:latin typeface="Calibri "/>
              </a:rPr>
              <a:t> RBAC/ABAC-based permissions.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Security Engine:</a:t>
            </a:r>
            <a:r>
              <a:rPr lang="en-IN" sz="1200" dirty="0">
                <a:latin typeface="Calibri "/>
              </a:rPr>
              <a:t> Encryption, malware scanning and secure storage.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Evidence Intelligence:</a:t>
            </a:r>
            <a:r>
              <a:rPr lang="en-IN" sz="1200" dirty="0">
                <a:latin typeface="Calibri "/>
              </a:rPr>
              <a:t> AI tamper, deepfake and duplicate detection.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Integrity Engine:</a:t>
            </a:r>
            <a:r>
              <a:rPr lang="en-IN" sz="1200" dirty="0">
                <a:latin typeface="Calibri "/>
              </a:rPr>
              <a:t> Hashing, digital seals and continuous verification.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Audit Module:</a:t>
            </a:r>
            <a:r>
              <a:rPr lang="en-IN" sz="1200" dirty="0">
                <a:latin typeface="Calibri "/>
              </a:rPr>
              <a:t> Immutable logs and chain-of-custody tracking.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Privacy Module:</a:t>
            </a:r>
            <a:r>
              <a:rPr lang="en-IN" sz="1200" dirty="0">
                <a:latin typeface="Calibri "/>
              </a:rPr>
              <a:t> Redaction and controlled document sharing.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Emergency Module:</a:t>
            </a:r>
            <a:r>
              <a:rPr lang="en-IN" sz="1200" dirty="0">
                <a:latin typeface="Calibri "/>
              </a:rPr>
              <a:t> Temporary access, duress mode and dual authorization.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0BD365B5-17A8-635F-F8F8-51359CE708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0" t="21415" r="28530" b="29657"/>
          <a:stretch>
            <a:fillRect/>
          </a:stretch>
        </p:blipFill>
        <p:spPr>
          <a:xfrm>
            <a:off x="438912" y="1053194"/>
            <a:ext cx="6732450" cy="29663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C45E0828-0D67-D4FD-6D78-CAB574BFA3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109" r="14466"/>
          <a:stretch>
            <a:fillRect/>
          </a:stretch>
        </p:blipFill>
        <p:spPr>
          <a:xfrm>
            <a:off x="5445303" y="5228009"/>
            <a:ext cx="6746697" cy="968980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xmlns="" id="{396F9B60-11F8-805C-53F8-1FF524DDDC4F}"/>
              </a:ext>
            </a:extLst>
          </p:cNvPr>
          <p:cNvSpPr txBox="1">
            <a:spLocks/>
          </p:cNvSpPr>
          <p:nvPr/>
        </p:nvSpPr>
        <p:spPr>
          <a:xfrm>
            <a:off x="7428216" y="4802577"/>
            <a:ext cx="4976117" cy="42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u="sng" dirty="0">
                <a:latin typeface="Calibri "/>
              </a:rPr>
              <a:t>TECHNOLOGICAL STACK</a:t>
            </a:r>
            <a:endParaRPr lang="en-IN" sz="1400" b="1" u="sng" dirty="0">
              <a:latin typeface="Calibri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h_knight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475488" cy="4754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32688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420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1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651760" y="16459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pic>
        <p:nvPicPr>
          <p:cNvPr id="6" name="Image 1" descr="sih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737360" cy="69585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914400"/>
            <a:ext cx="11640312" cy="0"/>
          </a:xfrm>
          <a:prstGeom prst="line">
            <a:avLst/>
          </a:prstGeom>
          <a:noFill/>
          <a:ln w="15875">
            <a:solidFill>
              <a:srgbClr val="1B2A4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274320" y="1024128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u="sng" dirty="0">
                <a:solidFill>
                  <a:srgbClr val="C1611A"/>
                </a:solidFill>
                <a:uFill>
                  <a:solidFill>
                    <a:srgbClr val="C1611A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74320" y="1298448"/>
            <a:ext cx="3759098" cy="2359152"/>
          </a:xfrm>
          <a:prstGeom prst="rect">
            <a:avLst>
              <a:gd name="adj" fmla="val 2326"/>
            </a:avLst>
          </a:prstGeom>
          <a:ln w="19050">
            <a:solidFill>
              <a:srgbClr val="C1611A"/>
            </a:solidFill>
            <a:prstDash val="dash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Impact Column"/>
          <p:cNvSpPr txBox="1">
            <a:spLocks noChangeArrowheads="1"/>
          </p:cNvSpPr>
          <p:nvPr/>
        </p:nvSpPr>
        <p:spPr bwMode="auto">
          <a:xfrm>
            <a:off x="609600" y="1950000"/>
            <a:ext cx="5334000" cy="4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Investigators, prosecutors and courts get faster, verifiable access to case files, cutting delays caused by manual filing and lost records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 single, auditable source of truth for case records reduces procedural errors and disputes over documentation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Citizens benefit from faster case resolution and greater confidence that evidence has not been tampered with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Agencies gain role-based, encrypted access with full audit trails, protecting chain-of-custody integrity</a:t>
            </a:r>
          </a:p>
        </p:txBody>
      </p:sp>
      <p:sp>
        <p:nvSpPr>
          <p:cNvPr id="17420" name="Benefits Header"/>
          <p:cNvSpPr txBox="1"/>
          <p:nvPr/>
        </p:nvSpPr>
        <p:spPr bwMode="auto">
          <a:xfrm>
            <a:off x="6400800" y="1950000"/>
            <a:ext cx="51822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</p:txBody>
      </p:sp>
      <p:sp>
        <p:nvSpPr>
          <p:cNvPr id="17421" name="Card Social"/>
          <p:cNvSpPr/>
          <p:nvPr/>
        </p:nvSpPr>
        <p:spPr>
          <a:xfrm>
            <a:off x="6400800" y="260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Social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Builds public trust through tamper-proof records and improves access to justice</a:t>
            </a:r>
          </a:p>
        </p:txBody>
      </p:sp>
      <p:sp>
        <p:nvSpPr>
          <p:cNvPr id="17422" name="Card Economic"/>
          <p:cNvSpPr/>
          <p:nvPr/>
        </p:nvSpPr>
        <p:spPr>
          <a:xfrm>
            <a:off x="6400800" y="352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Economic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Cuts storage and retrieval costs, and reduces case backlogs and admin man-hours</a:t>
            </a:r>
          </a:p>
        </p:txBody>
      </p:sp>
      <p:sp>
        <p:nvSpPr>
          <p:cNvPr id="17423" name="Card Environmental"/>
          <p:cNvSpPr/>
          <p:nvPr/>
        </p:nvSpPr>
        <p:spPr>
          <a:xfrm>
            <a:off x="6400800" y="444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70AD47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Environmental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Reduces paper usage and physical archive space, supporting paperless legal infrastructure</a:t>
            </a:r>
          </a:p>
        </p:txBody>
      </p:sp>
      <p:sp>
        <p:nvSpPr>
          <p:cNvPr id="17424" name="Card Security"/>
          <p:cNvSpPr/>
          <p:nvPr/>
        </p:nvSpPr>
        <p:spPr>
          <a:xfrm>
            <a:off x="6400800" y="536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Security &amp; Governance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Role-based access and audit trails prevent tampering, protecting chain-of-custody integrity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Team Logo" descr="Tech Knight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30200"/>
            <a:ext cx="1375057" cy="475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Impact Column"/>
          <p:cNvSpPr txBox="1">
            <a:spLocks noChangeArrowheads="1"/>
          </p:cNvSpPr>
          <p:nvPr/>
        </p:nvSpPr>
        <p:spPr bwMode="auto">
          <a:xfrm>
            <a:off x="609600" y="1750000"/>
            <a:ext cx="5486400" cy="4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Government &amp; Policy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Information Technology Act, 2000 - Ministry of Electronics &amp; IT, Government of India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Indian Evidence Act, 1872 - Section 65B, Admissibility of Electronic Records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Crime &amp; Criminal Tracking Network &amp; Systems (CCTNS) / ICJS - Ministry of Home Affairs, GoI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e-Courts Mission Mode Project, Phase III (2023-2027) - Department of Justice, GoI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Cryptography &amp; Security Standards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NIST FIPS 197 - Advanced Encryption Standard (AES)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NIST FIPS 180-4 - Secure Hash Standard (SHA-256)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Excavating Vulnerabilities in Multi-Factor Authentication Protocols (arXiv, 2024)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Team Logo" descr="Tech Knight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30200"/>
            <a:ext cx="1375057" cy="475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ferences Column 2"/>
          <p:cNvSpPr txBox="1">
            <a:spLocks noChangeArrowheads="1"/>
          </p:cNvSpPr>
          <p:nvPr/>
        </p:nvSpPr>
        <p:spPr bwMode="auto">
          <a:xfrm>
            <a:off x="6400800" y="1750000"/>
            <a:ext cx="5182200" cy="4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AI Tamper &amp; Deepfake Detection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A Survey of Deepfake Detection Methods - IEEE, 2023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The Societal Impact of Deepfakes: Advances in Detection and Mitigation - IEEE, 2023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Digital Forensics &amp; Chain of Custody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Blockchain-Enhanced Chain of Custody for Digital Forensic Evidence Management - IEEE, 2025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B-CoC: A Blockchain-based Chain of Custody for Evidence Management in Digital Forensics (arXiv)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Access Control &amp; Identity Management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Role-Based Access Control (RBAC) in Modern Cloud Security Governance - IJSRCSEIT, 2025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ABAC vs RBAC: Access Control Models for Zero-Trust Architectures - Security Literature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7517</TotalTime>
  <Words>833</Words>
  <Application>Microsoft Office PowerPoint</Application>
  <PresentationFormat>Custom</PresentationFormat>
  <Paragraphs>97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Office Theme</vt:lpstr>
      <vt:lpstr>Office Theme</vt:lpstr>
      <vt:lpstr>Office Theme</vt:lpstr>
      <vt:lpstr>Office Theme</vt:lpstr>
      <vt:lpstr>Office Theme</vt:lpstr>
      <vt:lpstr>SMART INDIA HACKATHON 2026</vt:lpstr>
      <vt:lpstr>   PROPOSED SOLUTION</vt:lpstr>
      <vt:lpstr>              TECHNICAL APPROACH</vt:lpstr>
      <vt:lpstr>PowerPoint Presentation</vt:lpstr>
      <vt:lpstr>IMPACT AND BENEFITS</vt:lpstr>
      <vt:lpstr>RESEARCH AND REFERENCES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girijaanand</cp:lastModifiedBy>
  <cp:revision>150</cp:revision>
  <dcterms:created xsi:type="dcterms:W3CDTF">2013-12-12T18:46:50Z</dcterms:created>
  <dcterms:modified xsi:type="dcterms:W3CDTF">2026-08-30T15:35:12Z</dcterms:modified>
</cp:coreProperties>
</file>